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2A134-F627-409C-B328-69F9DF44F44E}" type="datetimeFigureOut">
              <a:t>14/06/2026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D316F-23EB-4402-A4D0-C583618859CB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3690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sirkmox.itch.io/arcanedescen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8503920" cy="4498848"/>
          </a:xfrm>
          <a:prstGeom prst="roundRect">
            <a:avLst>
              <a:gd name="adj" fmla="val 2033"/>
            </a:avLst>
          </a:prstGeom>
          <a:solidFill>
            <a:srgbClr val="000000"/>
          </a:solidFill>
          <a:ln w="19050">
            <a:solidFill>
              <a:srgbClr val="22304F"/>
            </a:solidFill>
            <a:prstDash val="solid"/>
          </a:ln>
        </p:spPr>
      </p:sp>
      <p:pic>
        <p:nvPicPr>
          <p:cNvPr id="3" name="Image 0" descr="/home/claude/tfm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180" y="502920"/>
            <a:ext cx="1691640" cy="1691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677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4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ARCANE DESCENT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944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Balance Analytics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364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Del </a:t>
            </a: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dato</a:t>
            </a: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bruto</a:t>
            </a: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 de juego a </a:t>
            </a: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decisiones</a:t>
            </a: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 de </a:t>
            </a: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diseño</a:t>
            </a: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accionables</a:t>
            </a: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  ·  </a:t>
            </a:r>
            <a:r>
              <a:rPr lang="en-US" sz="1200" i="1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  <a:hlinkClick r:id="rId4"/>
              </a:rPr>
              <a:t>sirkmox.itch.io/</a:t>
            </a:r>
            <a:r>
              <a:rPr lang="en-US" sz="1200" i="1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  <a:hlinkClick r:id="rId4"/>
              </a:rPr>
              <a:t>arcanedescent</a:t>
            </a:r>
            <a:endParaRPr lang="en-US" sz="1200" i="1" dirty="0" err="1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 Alcaraz Rodríguez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Fin de Máster · Data Science &amp;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balance de un juego se decide “a ojo”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2743200"/>
          </a:xfrm>
          <a:prstGeom prst="roundRect">
            <a:avLst>
              <a:gd name="adj" fmla="val 2333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46" y="1509446"/>
            <a:ext cx="382676" cy="3826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81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tradicional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Intuición del diseñador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anecdótico y sesgado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sabes qué está roto hasta que el jugador abandona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77640" cy="2743200"/>
          </a:xfrm>
          <a:prstGeom prst="roundRect">
            <a:avLst>
              <a:gd name="adj" fmla="val 2333"/>
            </a:avLst>
          </a:prstGeom>
          <a:solidFill>
            <a:srgbClr val="1B2440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41732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606" y="1509446"/>
            <a:ext cx="382676" cy="3826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481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telemetría real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029200" y="21031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partida deja datos medibles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elemento gana, qué hechizo falla, dónde se abandona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con evidencia, no opiniones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industria lo hace a gran escala. Mi TFM lo demuestra de extremo a extremo sobre un juego real: el mío.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PRODUCTO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y para quién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143000"/>
          </a:xfrm>
          <a:prstGeom prst="roundRect">
            <a:avLst>
              <a:gd name="adj" fmla="val 5600"/>
            </a:avLst>
          </a:prstGeom>
          <a:solidFill>
            <a:srgbClr val="1B2440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29844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que convierte la telemetría de Arcane Descent en </a:t>
            </a:r>
            <a:r>
              <a:rPr lang="en-US" sz="1700" b="1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de balance priorizadas</a:t>
            </a:r>
            <a:r>
              <a:rPr lang="en-US" sz="17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servidas en un dashboard interactivo con un asistente IA.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560320" cy="1965960"/>
          </a:xfrm>
          <a:prstGeom prst="roundRect">
            <a:avLst>
              <a:gd name="adj" fmla="val 3256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53896" y="2724912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022" y="2817038"/>
            <a:ext cx="382676" cy="3826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398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1792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game designer: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decide qué cambiar en el juego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2560320"/>
            <a:ext cx="2560320" cy="1965960"/>
          </a:xfrm>
          <a:prstGeom prst="roundRect">
            <a:avLst>
              <a:gd name="adj" fmla="val 3256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88536" y="2724912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0662" y="2817038"/>
            <a:ext cx="382676" cy="3826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3398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56432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nerfear o buffear,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con qué evidencia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26480" y="2560320"/>
            <a:ext cx="2560320" cy="1965960"/>
          </a:xfrm>
          <a:prstGeom prst="roundRect">
            <a:avLst>
              <a:gd name="adj" fmla="val 3256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23176" y="2724912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5302" y="2817038"/>
            <a:ext cx="382676" cy="3826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3398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291072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Sustituye semanas de prueba-error por minutos de lectura de datos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clic del jugador a la recomendación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1965960" cy="2103120"/>
          </a:xfrm>
          <a:prstGeom prst="roundRect">
            <a:avLst>
              <a:gd name="adj" fmla="val 3256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06424" y="1353312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550" y="1445438"/>
            <a:ext cx="382676" cy="3826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4632" y="1993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Juego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9496" y="2322576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/ WebGL emite telemetría: salas, hechizos, muertes, daño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872" y="2148840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24328" y="1207008"/>
            <a:ext cx="1965960" cy="2103120"/>
          </a:xfrm>
          <a:prstGeom prst="roundRect">
            <a:avLst>
              <a:gd name="adj" fmla="val 3256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319272" y="1353312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1398" y="1445438"/>
            <a:ext cx="382676" cy="3826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97480" y="1993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Limpieza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752344" y="2322576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 de sesiones sospechosas y normalización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48840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837176" y="1207008"/>
            <a:ext cx="1965960" cy="2103120"/>
          </a:xfrm>
          <a:prstGeom prst="roundRect">
            <a:avLst>
              <a:gd name="adj" fmla="val 3256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532120" y="1353312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4246" y="1445438"/>
            <a:ext cx="382676" cy="38267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10328" y="1993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Análisis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965192" y="2322576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Estadística + ML + NLP de comentarios</a:t>
            </a:r>
            <a:endParaRPr lang="en-US" sz="10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2148840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050024" y="1207008"/>
            <a:ext cx="1965960" cy="2103120"/>
          </a:xfrm>
          <a:prstGeom prst="roundRect">
            <a:avLst>
              <a:gd name="adj" fmla="val 3256"/>
            </a:avLst>
          </a:prstGeom>
          <a:solidFill>
            <a:srgbClr val="1B2440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744968" y="1353312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7094" y="1445438"/>
            <a:ext cx="382676" cy="38267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23176" y="1993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Decisión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7178040" y="2322576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priorizadas en dashboard + IA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457200" y="3493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8FFF"/>
                </a:solidFill>
                <a:latin typeface="Arial"/>
                <a:ea typeface="Arial" pitchFamily="34" charset="-122"/>
                <a:cs typeface="Arial"/>
              </a:rPr>
              <a:t>DEMO EN VIVO · </a:t>
            </a:r>
            <a:r>
              <a:rPr lang="en-US" sz="115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Resumen</a:t>
            </a:r>
            <a:r>
              <a:rPr lang="en-US" sz="115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5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ejecutivo</a:t>
            </a:r>
            <a:r>
              <a:rPr lang="en-US" sz="115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 del dashboard</a:t>
            </a:r>
            <a:endParaRPr lang="en-US" sz="1150" dirty="0">
              <a:solidFill>
                <a:srgbClr val="9AA7BD"/>
              </a:solidFill>
              <a:latin typeface="Arial"/>
              <a:cs typeface="Arial"/>
            </a:endParaRPr>
          </a:p>
        </p:txBody>
      </p:sp>
      <p:pic>
        <p:nvPicPr>
          <p:cNvPr id="28" name="Image 7" descr="/home/claude/tfm/kpi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767328"/>
            <a:ext cx="8229600" cy="13146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Origen, calidad y tratamiento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47672" cy="1554480"/>
          </a:xfrm>
          <a:prstGeom prst="roundRect">
            <a:avLst>
              <a:gd name="adj" fmla="val 4118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25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→ 39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2011680"/>
            <a:ext cx="1801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 brutas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válidas tras limpieza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33472" y="1188720"/>
            <a:ext cx="1947672" cy="1554480"/>
          </a:xfrm>
          <a:prstGeom prst="roundRect">
            <a:avLst>
              <a:gd name="adj" fmla="val 4118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79192" y="1325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519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706624" y="2011680"/>
            <a:ext cx="1801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salas de juego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registradas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9744" y="1188720"/>
            <a:ext cx="1947672" cy="1554480"/>
          </a:xfrm>
          <a:prstGeom prst="roundRect">
            <a:avLst>
              <a:gd name="adj" fmla="val 4118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55464" y="1325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882896" y="2011680"/>
            <a:ext cx="1801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salas instrumentadas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4 niveles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86016" y="1188720"/>
            <a:ext cx="1947672" cy="1554480"/>
          </a:xfrm>
          <a:prstGeom prst="roundRect">
            <a:avLst>
              <a:gd name="adj" fmla="val 4118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31736" y="1325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059168" y="2011680"/>
            <a:ext cx="1801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enemigos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 normales + 7 bosses)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1645920"/>
          </a:xfrm>
          <a:prstGeom prst="roundRect">
            <a:avLst>
              <a:gd name="adj" fmla="val 3889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24612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46" y="3338246"/>
            <a:ext cx="382676" cy="3826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17320" y="3310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calidad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17320" y="3703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Telemetría enviada en tiempo real desde Unity/WebGL a Firebase Firestore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automática de sesiones sospechosas (excluidas del análisis, nunca borradas)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de telemetría real encontrado y corregido en Unity (daño de fuente desconocida) — los datos también auditan al juego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PRINCIPAL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 la habilidad, no el elemento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120640" cy="3291840"/>
          </a:xfrm>
          <a:prstGeom prst="roundRect">
            <a:avLst>
              <a:gd name="adj" fmla="val 1944"/>
            </a:avLst>
          </a:prstGeom>
          <a:solidFill>
            <a:srgbClr val="1B2440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6304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66" y="1555166"/>
            <a:ext cx="382676" cy="3826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predictor de victoria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057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kd_ratio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kills / muertes del jugador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2461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 de Spearman significativa (p &lt; 0.05)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elemento elegido NO muestra efecto significativo en ganar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852160" y="1234440"/>
            <a:ext cx="2834640" cy="3291840"/>
          </a:xfrm>
          <a:prstGeom prst="roundRect">
            <a:avLst>
              <a:gd name="adj" fmla="val 2258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807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importa?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80760" y="182880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mejor noticia posible para el diseño: los cuatro elementos compiten en igualdad y el resultado depende del jugador.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juego premia jugar bien — no elegir “el personaje roto”.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DATO A LA DECISIÓN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real: cómo nace una recomendación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5257800" cy="2240280"/>
          </a:xfrm>
          <a:prstGeom prst="roundRect">
            <a:avLst>
              <a:gd name="adj" fmla="val 2857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984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de progresión real — Level1 es el cuello de botella</a:t>
            </a:r>
            <a:endParaRPr lang="en-US" sz="1150" dirty="0"/>
          </a:p>
        </p:txBody>
      </p:sp>
      <p:pic>
        <p:nvPicPr>
          <p:cNvPr id="6" name="Image 0" descr="/home/claude/tfm/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27632"/>
            <a:ext cx="4892040" cy="13664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1207008"/>
            <a:ext cx="2880360" cy="685800"/>
          </a:xfrm>
          <a:prstGeom prst="roundRect">
            <a:avLst>
              <a:gd name="adj" fmla="val 9333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1335024"/>
            <a:ext cx="438912" cy="438912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0643" y="1406347"/>
            <a:ext cx="296266" cy="2962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1280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537960" y="152704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 de las sesiones no pasa de Level1 (39 → 28)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852160" y="1984248"/>
            <a:ext cx="2880360" cy="685800"/>
          </a:xfrm>
          <a:prstGeom prst="roundRect">
            <a:avLst>
              <a:gd name="adj" fmla="val 9333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989320" y="2112264"/>
            <a:ext cx="438912" cy="438912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0643" y="2183587"/>
            <a:ext cx="296266" cy="2962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37960" y="2057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537960" y="230428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Muertes y daño por sala confirman el pico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852160" y="2761488"/>
            <a:ext cx="2880360" cy="685800"/>
          </a:xfrm>
          <a:prstGeom prst="roundRect">
            <a:avLst>
              <a:gd name="adj" fmla="val 9333"/>
            </a:avLst>
          </a:prstGeom>
          <a:solidFill>
            <a:srgbClr val="1B2440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989320" y="2889504"/>
            <a:ext cx="438912" cy="438912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0643" y="2960827"/>
            <a:ext cx="296266" cy="29626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2834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537960" y="308152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Alta: ajustar la dificultad de entrada</a:t>
            </a:r>
            <a:endParaRPr lang="en-US" sz="950" dirty="0"/>
          </a:p>
        </p:txBody>
      </p:sp>
      <p:pic>
        <p:nvPicPr>
          <p:cNvPr id="22" name="Image 4" descr="/home/claude/tfm/rec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03320"/>
            <a:ext cx="4846320" cy="92841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86400" y="37033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recomendaciones generadas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= evidencia estadística o bug · Media = tendencia EDA · Baja = feedback. Cada una con evidencia adjunta y marcable como resuelta.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predictivo y clustering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3291840"/>
          </a:xfrm>
          <a:prstGeom prst="roundRect">
            <a:avLst>
              <a:gd name="adj" fmla="val 1944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46" y="1555166"/>
            <a:ext cx="382676" cy="3826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 de victoria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Clasificador entrenado sobre las sesiones válidas, evaluado con AUC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de variables: confirma qué métricas explican ganar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el hallazgo estadístico por una vía independiente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234440"/>
            <a:ext cx="3977640" cy="3291840"/>
          </a:xfrm>
          <a:prstGeom prst="roundRect">
            <a:avLst>
              <a:gd name="adj" fmla="val 1944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46304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606" y="1555166"/>
            <a:ext cx="382676" cy="3826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+ NLP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29200" y="21488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de jugadores por estilo de juego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sentimiento de los comentarios de los jugadores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sentimiento entra en la Puntuación Global: el dato cualitativo también cuenta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DIFERENCIADOR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asistente IA que conoce tu juego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5577840" cy="3364992"/>
          </a:xfrm>
          <a:prstGeom prst="roundRect">
            <a:avLst>
              <a:gd name="adj" fmla="val 1902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1673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real del agente — “¿Por qué pierde Water?”</a:t>
            </a:r>
            <a:endParaRPr lang="en-US" sz="1150" dirty="0"/>
          </a:p>
        </p:txBody>
      </p:sp>
      <p:pic>
        <p:nvPicPr>
          <p:cNvPr id="6" name="Image 0" descr="/home/claude/tfm/chat_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27632"/>
            <a:ext cx="521208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43159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con métricas + acciones concretas para Unity + limitaciones — todo desde los datos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72200" y="1207008"/>
            <a:ext cx="2560320" cy="3364992"/>
          </a:xfrm>
          <a:prstGeom prst="roundRect">
            <a:avLst>
              <a:gd name="adj" fmla="val 2500"/>
            </a:avLst>
          </a:prstGeom>
          <a:solidFill>
            <a:srgbClr val="1B2440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5508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aporta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09360" y="178308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en lenguaje natural sobre balance, enemigos y salas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con métricas reales y propone acciones concretas para Unity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Human-in-the-loop: la IA propone, el diseñador decide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HONESTIDAD ANALÍTICA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y siguientes pasos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3291840"/>
          </a:xfrm>
          <a:prstGeom prst="roundRect">
            <a:avLst>
              <a:gd name="adj" fmla="val 1944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46" y="1555166"/>
            <a:ext cx="382676" cy="3826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aún no resuelve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pequeña: se necesitan ≥30 sesiones por elemento; algunos tienen n&lt;10 → resultados orientativos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un prototipo, no de producción masiva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 ≠ causalidad: las recomendaciones requieren validarse con tests A/B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234440"/>
            <a:ext cx="3977640" cy="3291840"/>
          </a:xfrm>
          <a:prstGeom prst="roundRect">
            <a:avLst>
              <a:gd name="adj" fmla="val 1944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46304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606" y="1555166"/>
            <a:ext cx="382676" cy="3826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 mes más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29200" y="2103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Campaña</a:t>
            </a: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 de </a:t>
            </a: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captación</a:t>
            </a: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 de </a:t>
            </a: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jugadores</a:t>
            </a: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 para </a:t>
            </a: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superar</a:t>
            </a: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 el umbral </a:t>
            </a: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estadístico</a:t>
            </a:r>
            <a:endParaRPr lang="en-US" sz="1200" dirty="0" err="1">
              <a:latin typeface="Arial"/>
              <a:cs typeface="Arial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Ciclo </a:t>
            </a: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completo</a:t>
            </a: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: </a:t>
            </a: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aplicar</a:t>
            </a: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una</a:t>
            </a: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recomendación</a:t>
            </a: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 al juego y </a:t>
            </a: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medir</a:t>
            </a:r>
            <a:r>
              <a:rPr lang="en-US" sz="1200" dirty="0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 el antes/</a:t>
            </a:r>
            <a:r>
              <a:rPr lang="en-US" sz="1200" dirty="0" err="1">
                <a:solidFill>
                  <a:srgbClr val="9AA7BD"/>
                </a:solidFill>
                <a:latin typeface="Arial"/>
                <a:ea typeface="Arial" pitchFamily="34" charset="-122"/>
                <a:cs typeface="Arial"/>
              </a:rPr>
              <a:t>después</a:t>
            </a:r>
            <a:endParaRPr lang="en-US" sz="1200" dirty="0" err="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8503920" cy="4498848"/>
          </a:xfrm>
          <a:prstGeom prst="roundRect">
            <a:avLst>
              <a:gd name="adj" fmla="val 2033"/>
            </a:avLst>
          </a:prstGeom>
          <a:solidFill>
            <a:srgbClr val="0E1320"/>
          </a:solidFill>
          <a:ln w="19050">
            <a:solidFill>
              <a:srgbClr val="2230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demuestra este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560320" cy="2148840"/>
          </a:xfrm>
          <a:prstGeom prst="roundRect">
            <a:avLst>
              <a:gd name="adj" fmla="val 2979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1056" y="169164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182" y="1783766"/>
            <a:ext cx="382676" cy="3826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real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670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juego publicado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sistema de análisis,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funcionando de extremo a extremo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508760"/>
            <a:ext cx="2560320" cy="2148840"/>
          </a:xfrm>
          <a:prstGeom prst="roundRect">
            <a:avLst>
              <a:gd name="adj" fmla="val 2979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69164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102" y="1783766"/>
            <a:ext cx="382676" cy="3826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del dato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20440" y="2670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Captura, limpieza, estadística,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y NLP — con sus límites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explicados con criterio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72200" y="1508760"/>
            <a:ext cx="2560320" cy="2148840"/>
          </a:xfrm>
          <a:prstGeom prst="roundRect">
            <a:avLst>
              <a:gd name="adj" fmla="val 2979"/>
            </a:avLst>
          </a:prstGeom>
          <a:solidFill>
            <a:srgbClr val="151C2E"/>
          </a:solidFill>
          <a:ln w="12700">
            <a:solidFill>
              <a:srgbClr val="232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68896" y="169164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2A3A6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022" y="1783766"/>
            <a:ext cx="382676" cy="3826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producto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09360" y="2670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análisis termina en una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accionable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un usuario concreto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B0C4DE"/>
                </a:solidFill>
                <a:latin typeface="Arial"/>
                <a:ea typeface="Arial" pitchFamily="34" charset="-122"/>
                <a:cs typeface="Arial"/>
              </a:rPr>
              <a:t>Gracias</a:t>
            </a:r>
            <a:r>
              <a:rPr lang="en-US" i="1">
                <a:solidFill>
                  <a:srgbClr val="B0C4DE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800" i="1">
              <a:solidFill>
                <a:srgbClr val="B0C4DE"/>
              </a:solidFill>
              <a:latin typeface="Arial"/>
              <a:cs typeface="Arial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 Alcaraz Rodríguez · Máster en Data Science &amp;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Presentación en pantalla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Arcane Descent — Game Balance Analytics</dc:title>
  <dc:subject>PptxGenJS Presentation</dc:subject>
  <dc:creator>Samuel Alcaraz Rodríguez</dc:creator>
  <cp:lastModifiedBy>Samuel Alcaraz Rodríguez</cp:lastModifiedBy>
  <cp:revision>44</cp:revision>
  <dcterms:created xsi:type="dcterms:W3CDTF">2026-06-11T23:08:21Z</dcterms:created>
  <dcterms:modified xsi:type="dcterms:W3CDTF">2026-06-14T18:17:36Z</dcterms:modified>
</cp:coreProperties>
</file>